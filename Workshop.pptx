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46"/>
  </p:notesMasterIdLst>
  <p:handoutMasterIdLst>
    <p:handoutMasterId r:id="rId47"/>
  </p:handoutMasterIdLst>
  <p:sldIdLst>
    <p:sldId id="256" r:id="rId5"/>
    <p:sldId id="352" r:id="rId6"/>
    <p:sldId id="353" r:id="rId7"/>
    <p:sldId id="357" r:id="rId8"/>
    <p:sldId id="328" r:id="rId9"/>
    <p:sldId id="349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  <p:sldId id="351" r:id="rId19"/>
    <p:sldId id="354" r:id="rId20"/>
    <p:sldId id="317" r:id="rId21"/>
    <p:sldId id="325" r:id="rId22"/>
    <p:sldId id="324" r:id="rId23"/>
    <p:sldId id="355" r:id="rId24"/>
    <p:sldId id="330" r:id="rId25"/>
    <p:sldId id="332" r:id="rId26"/>
    <p:sldId id="335" r:id="rId27"/>
    <p:sldId id="336" r:id="rId28"/>
    <p:sldId id="337" r:id="rId29"/>
    <p:sldId id="282" r:id="rId30"/>
    <p:sldId id="326" r:id="rId31"/>
    <p:sldId id="283" r:id="rId32"/>
    <p:sldId id="340" r:id="rId33"/>
    <p:sldId id="341" r:id="rId34"/>
    <p:sldId id="342" r:id="rId35"/>
    <p:sldId id="338" r:id="rId36"/>
    <p:sldId id="348" r:id="rId37"/>
    <p:sldId id="339" r:id="rId38"/>
    <p:sldId id="286" r:id="rId39"/>
    <p:sldId id="287" r:id="rId40"/>
    <p:sldId id="288" r:id="rId41"/>
    <p:sldId id="289" r:id="rId42"/>
    <p:sldId id="358" r:id="rId43"/>
    <p:sldId id="356" r:id="rId44"/>
    <p:sldId id="322" r:id="rId45"/>
  </p:sldIdLst>
  <p:sldSz cx="12192000" cy="6858000"/>
  <p:notesSz cx="6858000" cy="9144000"/>
  <p:custDataLst>
    <p:tags r:id="rId4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PT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google.com/search-console/remove-outdated-content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7855" y="923842"/>
            <a:ext cx="10250904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spc="400" dirty="0"/>
              <a:t>Workshop – </a:t>
            </a:r>
            <a:r>
              <a:rPr lang="en-US" sz="5400" spc="400" dirty="0" err="1"/>
              <a:t>Cibersegurança</a:t>
            </a:r>
            <a:r>
              <a:rPr lang="en-US" sz="5400" spc="400" dirty="0"/>
              <a:t> e a </a:t>
            </a:r>
            <a:r>
              <a:rPr lang="en-US" sz="5400" spc="400" dirty="0" err="1"/>
              <a:t>sua</a:t>
            </a:r>
            <a:r>
              <a:rPr lang="en-US" sz="5400" spc="400" dirty="0"/>
              <a:t> </a:t>
            </a:r>
            <a:r>
              <a:rPr lang="en-US" sz="5400" spc="400" dirty="0" err="1"/>
              <a:t>criticidade</a:t>
            </a:r>
            <a:r>
              <a:rPr lang="en-US" sz="5400" spc="400" dirty="0"/>
              <a:t> </a:t>
            </a:r>
            <a:r>
              <a:rPr lang="en-US" sz="5400" spc="400" dirty="0" err="1"/>
              <a:t>em</a:t>
            </a:r>
            <a:r>
              <a:rPr lang="en-US" sz="5400" spc="400" dirty="0"/>
              <a:t> </a:t>
            </a:r>
            <a:r>
              <a:rPr lang="en-US" sz="5400" spc="400" dirty="0" err="1"/>
              <a:t>empresas</a:t>
            </a:r>
            <a:r>
              <a:rPr lang="en-US" sz="5400" spc="400" dirty="0"/>
              <a:t> e </a:t>
            </a:r>
            <a:r>
              <a:rPr lang="en-US" sz="5400" spc="400" dirty="0" err="1"/>
              <a:t>cidadãos</a:t>
            </a:r>
            <a:endParaRPr lang="en-US" sz="5400" dirty="0">
              <a:latin typeface="Rockwell" panose="020606030202050204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BC362-2DE8-E50E-AFC6-F6DFF36435DF}"/>
              </a:ext>
            </a:extLst>
          </p:cNvPr>
          <p:cNvSpPr txBox="1"/>
          <p:nvPr/>
        </p:nvSpPr>
        <p:spPr>
          <a:xfrm>
            <a:off x="3030215" y="5356878"/>
            <a:ext cx="63742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https://twitter.com/MiguelSantareno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https://www.linkedin.com/in/miguelsantareno/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https://miguelsantareno.github.io/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miguel.santareno@my.istec.pt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8EC17-949C-F56C-4BC8-74430C2F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09" y="3961014"/>
            <a:ext cx="2953162" cy="857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97F359-5F68-E1EA-5B2C-29C98FCF4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899" y="3957269"/>
            <a:ext cx="2022807" cy="861115"/>
          </a:xfrm>
          <a:prstGeom prst="rect">
            <a:avLst/>
          </a:prstGeom>
        </p:spPr>
      </p:pic>
      <p:pic>
        <p:nvPicPr>
          <p:cNvPr id="1026" name="Picture 2" descr="Empreende XXI - EIROSTEC">
            <a:extLst>
              <a:ext uri="{FF2B5EF4-FFF2-40B4-BE49-F238E27FC236}">
                <a16:creationId xmlns:a16="http://schemas.microsoft.com/office/drawing/2014/main" id="{0F6424B0-50E2-1044-C874-0ED21990B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3488" y="3957269"/>
            <a:ext cx="3230822" cy="85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ome - Astrolábio">
            <a:extLst>
              <a:ext uri="{FF2B5EF4-FFF2-40B4-BE49-F238E27FC236}">
                <a16:creationId xmlns:a16="http://schemas.microsoft.com/office/drawing/2014/main" id="{78B5251C-8DA0-405D-25BC-080806EAD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444" y="381603"/>
            <a:ext cx="2513835" cy="73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63CF3-0659-5F60-B3A1-488F44027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B1B31-B642-CC43-6A5B-14F87FA7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Recepção</a:t>
            </a:r>
            <a:r>
              <a:rPr lang="en-US" sz="4400" dirty="0">
                <a:latin typeface="Rockwell" panose="02060603020205020403" pitchFamily="18" charset="0"/>
              </a:rPr>
              <a:t> e </a:t>
            </a:r>
            <a:r>
              <a:rPr lang="en-US" sz="4400" dirty="0" err="1">
                <a:latin typeface="Rockwell" panose="02060603020205020403" pitchFamily="18" charset="0"/>
              </a:rPr>
              <a:t>contextualização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4DCF9-FD0B-CD96-CB17-34C2850D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534" y="2408710"/>
            <a:ext cx="8222931" cy="20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90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0CE77-BAC4-5128-94F0-586D406E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5377E-10DA-B7B2-C91C-33E827EC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INFOSEC (Information Security)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27129-A0C4-59A3-2BA6-0CF822345929}"/>
              </a:ext>
            </a:extLst>
          </p:cNvPr>
          <p:cNvSpPr txBox="1"/>
          <p:nvPr/>
        </p:nvSpPr>
        <p:spPr>
          <a:xfrm>
            <a:off x="2156604" y="2277374"/>
            <a:ext cx="84366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 segurança da informação protege informações sensíveis contra atividades não autorizadas, incluindo inspeção, modificação, gravação e qualquer interrupção ou destruição. O objetivo é garantir a segurança e a privacidade de dados críticos, como detalhes de contas de clientes, dados financeiros ou propriedade intelectual.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04F61-3635-1AA2-D623-524B9BB133CB}"/>
              </a:ext>
            </a:extLst>
          </p:cNvPr>
          <p:cNvSpPr txBox="1"/>
          <p:nvPr/>
        </p:nvSpPr>
        <p:spPr>
          <a:xfrm>
            <a:off x="2232086" y="3789369"/>
            <a:ext cx="795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https://www.imperva.com/learn/data-security/information-security-infosec/</a:t>
            </a:r>
          </a:p>
        </p:txBody>
      </p:sp>
    </p:spTree>
    <p:extLst>
      <p:ext uri="{BB962C8B-B14F-4D97-AF65-F5344CB8AC3E}">
        <p14:creationId xmlns:p14="http://schemas.microsoft.com/office/powerpoint/2010/main" val="321843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1984B-4079-4D08-252A-F4C6E2CC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9BC34-3CDC-A14A-4D56-821EDDB3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CIA TRIANGLE</a:t>
            </a:r>
          </a:p>
        </p:txBody>
      </p:sp>
      <p:pic>
        <p:nvPicPr>
          <p:cNvPr id="2052" name="Picture 4" descr="What is Confidentiality, Integrity, Availability (CIA) and How to achieve  it - How Logstail Consulting Services Help Achieve the CIA Triad:  Protecting Confidentiality, Integrity, and Availability">
            <a:extLst>
              <a:ext uri="{FF2B5EF4-FFF2-40B4-BE49-F238E27FC236}">
                <a16:creationId xmlns:a16="http://schemas.microsoft.com/office/drawing/2014/main" id="{1DE116F8-6ED1-F05B-DD0E-D95F3CB4E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988" y="2141557"/>
            <a:ext cx="3760024" cy="3363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64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268C1-86D1-15C6-6D57-9D9D22D3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EBE6E-2E36-546D-B136-1FFAD2122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Cibersegurança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en-US" sz="4400" dirty="0" err="1">
                <a:latin typeface="Rockwell" panose="02060603020205020403" pitchFamily="18" charset="0"/>
              </a:rPr>
              <a:t>como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en-US" sz="4400" dirty="0" err="1">
                <a:latin typeface="Rockwell" panose="02060603020205020403" pitchFamily="18" charset="0"/>
              </a:rPr>
              <a:t>ativo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en-US" sz="4400" dirty="0" err="1">
                <a:latin typeface="Rockwell" panose="02060603020205020403" pitchFamily="18" charset="0"/>
              </a:rPr>
              <a:t>estratégico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6E140-4C4F-E70A-2903-62550ABAAA88}"/>
              </a:ext>
            </a:extLst>
          </p:cNvPr>
          <p:cNvSpPr txBox="1"/>
          <p:nvPr/>
        </p:nvSpPr>
        <p:spPr>
          <a:xfrm>
            <a:off x="2156604" y="2277374"/>
            <a:ext cx="84366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Aplicações</a:t>
            </a:r>
            <a:r>
              <a:rPr lang="en-US" dirty="0"/>
              <a:t> de </a:t>
            </a:r>
            <a:r>
              <a:rPr lang="en-US" dirty="0" err="1"/>
              <a:t>terceiros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Redes e </a:t>
            </a:r>
            <a:r>
              <a:rPr lang="en-US" dirty="0" err="1"/>
              <a:t>sistemas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Firewalls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Telemóveis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Impressoras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Resumindo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tudo</a:t>
            </a:r>
            <a:r>
              <a:rPr lang="en-US" dirty="0"/>
              <a:t> </a:t>
            </a:r>
            <a:r>
              <a:rPr lang="en-US" dirty="0" err="1"/>
              <a:t>ligado</a:t>
            </a:r>
            <a:r>
              <a:rPr lang="en-US" dirty="0"/>
              <a:t> à internet e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vida</a:t>
            </a:r>
            <a:r>
              <a:rPr lang="en-US" dirty="0"/>
              <a:t> </a:t>
            </a:r>
            <a:r>
              <a:rPr lang="en-US" dirty="0" err="1"/>
              <a:t>pessoal</a:t>
            </a:r>
            <a:r>
              <a:rPr lang="en-US" dirty="0"/>
              <a:t> (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engenharia</a:t>
            </a:r>
            <a:r>
              <a:rPr lang="en-US" dirty="0"/>
              <a:t> social)</a:t>
            </a:r>
          </a:p>
        </p:txBody>
      </p:sp>
    </p:spTree>
    <p:extLst>
      <p:ext uri="{BB962C8B-B14F-4D97-AF65-F5344CB8AC3E}">
        <p14:creationId xmlns:p14="http://schemas.microsoft.com/office/powerpoint/2010/main" val="1797796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AC653-9C1C-49CE-5EDB-22536D81D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091-C073-3C2C-166B-11917009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Top 5 </a:t>
            </a:r>
            <a:r>
              <a:rPr lang="en-US" sz="4400" dirty="0" err="1">
                <a:latin typeface="Rockwell" panose="02060603020205020403" pitchFamily="18" charset="0"/>
              </a:rPr>
              <a:t>ciberameaças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en-US" sz="4400" dirty="0" err="1">
                <a:latin typeface="Rockwell" panose="02060603020205020403" pitchFamily="18" charset="0"/>
              </a:rPr>
              <a:t>mais</a:t>
            </a:r>
            <a:r>
              <a:rPr lang="en-US" sz="4400" dirty="0">
                <a:latin typeface="Rockwell" panose="02060603020205020403" pitchFamily="18" charset="0"/>
              </a:rPr>
              <a:t> </a:t>
            </a:r>
            <a:r>
              <a:rPr lang="en-US" sz="4400" dirty="0" err="1">
                <a:latin typeface="Rockwell" panose="02060603020205020403" pitchFamily="18" charset="0"/>
              </a:rPr>
              <a:t>relevantes</a:t>
            </a:r>
            <a:r>
              <a:rPr lang="en-US" sz="4400" dirty="0">
                <a:latin typeface="Rockwell" panose="02060603020205020403" pitchFamily="18" charset="0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92520-59F6-74FA-7556-48A7F055B38D}"/>
              </a:ext>
            </a:extLst>
          </p:cNvPr>
          <p:cNvSpPr txBox="1"/>
          <p:nvPr/>
        </p:nvSpPr>
        <p:spPr>
          <a:xfrm>
            <a:off x="2382556" y="5375101"/>
            <a:ext cx="7955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https://www.cncs.gov.pt/docs/rel-riscosconflitos2025-obcibercncs.pdf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0E830-14D6-BD87-EB1A-F7B6968DC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556" y="2420402"/>
            <a:ext cx="8710046" cy="185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47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56AE9-01B2-BC5B-FC4E-76C28C9C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36A03-029D-9E0E-82C9-6018E9E64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Phishing e smishing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0064A-0BA1-5C32-490C-17E3A5A89474}"/>
              </a:ext>
            </a:extLst>
          </p:cNvPr>
          <p:cNvSpPr txBox="1"/>
          <p:nvPr/>
        </p:nvSpPr>
        <p:spPr>
          <a:xfrm>
            <a:off x="2382556" y="5375101"/>
            <a:ext cx="7955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https://www.cncs.gov.pt/pt/boas-praticas-contra-o-phishing-o-smishing-e-o-vishing/#oquesao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BCA61-918E-2D90-89CA-55A54D624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314" y="2304992"/>
            <a:ext cx="7239372" cy="224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23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23F32-9ED5-81AC-2A14-F316B5F4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8F33-800C-FC65-031B-F1579926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Phishing e smishing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FDC97-2679-B8B0-4317-A42BE884B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690" y="2559005"/>
            <a:ext cx="6482731" cy="181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98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2BFC-BB70-E75E-C0F0-2C853D65A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09DAE-43D0-021D-9405-9A1F37298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ransomware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1BCC8-98E5-D5FC-692F-A6D8411AA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66" y="1568354"/>
            <a:ext cx="7150467" cy="37212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DB7C7C-3541-F987-8D6B-C6DCEDB14274}"/>
              </a:ext>
            </a:extLst>
          </p:cNvPr>
          <p:cNvSpPr txBox="1"/>
          <p:nvPr/>
        </p:nvSpPr>
        <p:spPr>
          <a:xfrm>
            <a:off x="3571375" y="5585711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https://www.cncs.gov.pt/pt/contexto-atual-ransomware/#enquadramento2</a:t>
            </a:r>
          </a:p>
        </p:txBody>
      </p:sp>
    </p:spTree>
    <p:extLst>
      <p:ext uri="{BB962C8B-B14F-4D97-AF65-F5344CB8AC3E}">
        <p14:creationId xmlns:p14="http://schemas.microsoft.com/office/powerpoint/2010/main" val="182004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9FD7-BB04-C945-5AA0-62E29F1A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6070C-2F9C-B27F-A7D0-986ABB7EC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ransomware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587C0A-E0C9-3B0F-CA7D-9607357A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451" y="1895396"/>
            <a:ext cx="6763098" cy="30672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34A23F-EA96-67BA-AEFD-A030C8D537F1}"/>
              </a:ext>
            </a:extLst>
          </p:cNvPr>
          <p:cNvSpPr txBox="1"/>
          <p:nvPr/>
        </p:nvSpPr>
        <p:spPr>
          <a:xfrm>
            <a:off x="3130951" y="5446815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https://www.dn.pt/economia/ataques-de-ransomware-em-portugal-dispararam-250-no-primeiro-semestre</a:t>
            </a:r>
          </a:p>
        </p:txBody>
      </p:sp>
    </p:spTree>
    <p:extLst>
      <p:ext uri="{BB962C8B-B14F-4D97-AF65-F5344CB8AC3E}">
        <p14:creationId xmlns:p14="http://schemas.microsoft.com/office/powerpoint/2010/main" val="108185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8C8BD-CBB5-B693-D4B4-9D218ED13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5CA4-752E-8A46-9808-F327E3712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Exploração de vulnerabilidades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E827AF-71E0-3F07-35D5-0B9D5E94B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6256" y="2256373"/>
            <a:ext cx="8191921" cy="34101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C6E26-2C0A-492C-5789-F31C39B8C91E}"/>
              </a:ext>
            </a:extLst>
          </p:cNvPr>
          <p:cNvSpPr txBox="1"/>
          <p:nvPr/>
        </p:nvSpPr>
        <p:spPr>
          <a:xfrm>
            <a:off x="3312287" y="6054816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https://www.cisa.gov/known-exploited-vulnerabilities-catalog</a:t>
            </a:r>
          </a:p>
        </p:txBody>
      </p:sp>
    </p:spTree>
    <p:extLst>
      <p:ext uri="{BB962C8B-B14F-4D97-AF65-F5344CB8AC3E}">
        <p14:creationId xmlns:p14="http://schemas.microsoft.com/office/powerpoint/2010/main" val="3663699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C2AD0-2CE5-61F5-B94B-C27B22CCE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E6968-CA12-8243-95BF-CC8881EF2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Exploração de vulnerabilidades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C2A85-88C8-1F9C-270C-8C867085663D}"/>
              </a:ext>
            </a:extLst>
          </p:cNvPr>
          <p:cNvSpPr txBox="1"/>
          <p:nvPr/>
        </p:nvSpPr>
        <p:spPr>
          <a:xfrm>
            <a:off x="3312287" y="6054816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https://www.cisa.gov/known-exploited-vulnerabilities-catalog?page=1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55133-8D1A-1681-1045-44B8E76B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02" y="2097088"/>
            <a:ext cx="7115220" cy="378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350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1889C-79C3-4AE5-CCDE-FD13E5800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BB883-E2E4-241E-F4BA-14A43FCB5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Negação de serviços distribuida (ddos)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518D1-3BDB-F68C-D80A-62F5D8AB3904}"/>
              </a:ext>
            </a:extLst>
          </p:cNvPr>
          <p:cNvSpPr txBox="1"/>
          <p:nvPr/>
        </p:nvSpPr>
        <p:spPr>
          <a:xfrm>
            <a:off x="3161816" y="5256163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http://cncs.gov.pt/pt/intercop-ddos/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A7FBAB-4D0D-F1BE-A401-B551EDD45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688" y="2799303"/>
            <a:ext cx="6769448" cy="160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680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80BF-49C6-456F-CD36-D57434CA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D058-674C-056B-AD24-8F736B7C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Negação de serviços distribuida (ddos)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1BC11-81BE-667A-8043-BAC309DEB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749" y="2861936"/>
            <a:ext cx="7126501" cy="166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60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9DFC-C55C-9D07-CFFF-CF6FDCA2A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FE732-855C-538B-2AC8-EA83FE1C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Ameaça crescente 2025 – Info stealers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84DBA-4958-E57E-060F-47ABE91DD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353" y="2402948"/>
            <a:ext cx="7144117" cy="33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6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6727-F572-1414-8664-72E93C5C2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A1DE-8C93-555D-D263-EE45E4C1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Ameaça crescente 2025 – Info stealers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35F124-E120-75AC-137E-7E164AA39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653" y="2319483"/>
            <a:ext cx="7169518" cy="3873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583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6B6A5-2A09-9F6E-8810-7907DD593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B67-6A0C-FB7C-35A1-40FEB52D5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?</a:t>
            </a:r>
            <a:r>
              <a:rPr lang="pt-PT" sz="4400" dirty="0" err="1">
                <a:latin typeface="Rockwell" panose="02060603020205020403" pitchFamily="18" charset="0"/>
              </a:rPr>
              <a:t>Am</a:t>
            </a:r>
            <a:r>
              <a:rPr lang="pt-PT" sz="4400" dirty="0">
                <a:latin typeface="Rockwell" panose="02060603020205020403" pitchFamily="18" charset="0"/>
              </a:rPr>
              <a:t> i safe?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CC58B-7AF3-78A9-6106-41697EED085B}"/>
              </a:ext>
            </a:extLst>
          </p:cNvPr>
          <p:cNvSpPr txBox="1"/>
          <p:nvPr/>
        </p:nvSpPr>
        <p:spPr>
          <a:xfrm>
            <a:off x="4284055" y="3931120"/>
            <a:ext cx="7846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https://haveibeenpwned.com/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889E9-A422-6E4C-EA1A-ACA99FA6C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663" y="2161073"/>
            <a:ext cx="6392167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0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0981D-9FC1-6BD1-FF4F-402C6FF9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23C27-F8F4-3E12-1AD5-99914D4F3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?</a:t>
            </a:r>
            <a:r>
              <a:rPr lang="pt-PT" sz="4400" dirty="0" err="1">
                <a:latin typeface="Rockwell" panose="02060603020205020403" pitchFamily="18" charset="0"/>
              </a:rPr>
              <a:t>Am</a:t>
            </a:r>
            <a:r>
              <a:rPr lang="pt-PT" sz="4400" dirty="0">
                <a:latin typeface="Rockwell" panose="02060603020205020403" pitchFamily="18" charset="0"/>
              </a:rPr>
              <a:t> i safe?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D2F68-857D-B2A7-69CE-AB6EEC25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38165" y="2299436"/>
            <a:ext cx="5931041" cy="16312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60E1BF-7F79-E245-8233-95E982CF79D6}"/>
              </a:ext>
            </a:extLst>
          </p:cNvPr>
          <p:cNvSpPr txBox="1"/>
          <p:nvPr/>
        </p:nvSpPr>
        <p:spPr>
          <a:xfrm>
            <a:off x="5000811" y="4398496"/>
            <a:ext cx="784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https://intelx.io/</a:t>
            </a:r>
          </a:p>
        </p:txBody>
      </p:sp>
    </p:spTree>
    <p:extLst>
      <p:ext uri="{BB962C8B-B14F-4D97-AF65-F5344CB8AC3E}">
        <p14:creationId xmlns:p14="http://schemas.microsoft.com/office/powerpoint/2010/main" val="292736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F4773-80CC-1493-DCD7-618E49236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45E7-215B-D43F-2D08-83798F13F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?</a:t>
            </a:r>
            <a:r>
              <a:rPr lang="pt-PT" sz="4400" dirty="0" err="1">
                <a:latin typeface="Rockwell" panose="02060603020205020403" pitchFamily="18" charset="0"/>
              </a:rPr>
              <a:t>Am</a:t>
            </a:r>
            <a:r>
              <a:rPr lang="pt-PT" sz="4400" dirty="0">
                <a:latin typeface="Rockwell" panose="02060603020205020403" pitchFamily="18" charset="0"/>
              </a:rPr>
              <a:t> i safe?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B262E-BBF8-3344-5D3D-3233623F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460" y="2097088"/>
            <a:ext cx="5753903" cy="1962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FC162E-8D5A-F9C3-5994-9EF4275B022C}"/>
              </a:ext>
            </a:extLst>
          </p:cNvPr>
          <p:cNvSpPr txBox="1"/>
          <p:nvPr/>
        </p:nvSpPr>
        <p:spPr>
          <a:xfrm>
            <a:off x="4975372" y="4247508"/>
            <a:ext cx="7846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https://intelx.io/</a:t>
            </a:r>
          </a:p>
        </p:txBody>
      </p:sp>
    </p:spTree>
    <p:extLst>
      <p:ext uri="{BB962C8B-B14F-4D97-AF65-F5344CB8AC3E}">
        <p14:creationId xmlns:p14="http://schemas.microsoft.com/office/powerpoint/2010/main" val="3280392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929A-2D91-FC09-5DC1-7ADDC3E08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BA0D-E51B-918D-8172-91245B161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Medidas básicas de proteção e boas práticas de segurança digital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1026" name="Picture 2" descr="5 Tips On How To Stay Safe Online">
            <a:extLst>
              <a:ext uri="{FF2B5EF4-FFF2-40B4-BE49-F238E27FC236}">
                <a16:creationId xmlns:a16="http://schemas.microsoft.com/office/drawing/2014/main" id="{A4DD56D2-2AA6-2B8B-7EA8-8A30BAFBD5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2460" y="2799084"/>
            <a:ext cx="4847079" cy="2431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956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5F271-5330-106B-DED9-802F815B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BEAB-4E1D-B170-5B8A-B81D0622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Password Managers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6419BD-EBC5-44D9-675A-A45894861D2B}"/>
              </a:ext>
            </a:extLst>
          </p:cNvPr>
          <p:cNvSpPr txBox="1"/>
          <p:nvPr/>
        </p:nvSpPr>
        <p:spPr>
          <a:xfrm>
            <a:off x="2588741" y="2471351"/>
            <a:ext cx="70248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https://keepass.info/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https://1password.com/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https://bitwarden.com/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Among</a:t>
            </a:r>
            <a:r>
              <a:rPr lang="pt-PT" dirty="0"/>
              <a:t> </a:t>
            </a:r>
            <a:r>
              <a:rPr lang="pt-PT" dirty="0" err="1"/>
              <a:t>others</a:t>
            </a:r>
            <a:r>
              <a:rPr lang="pt-P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8825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42987-988E-085E-7E83-7DA95A550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F0069-947B-43BE-8D73-C88EDE615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Keepass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62BB9-20A7-81E0-60F9-8FCBC8C4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684" y="1965708"/>
            <a:ext cx="8422046" cy="24383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C59223-B76D-03CB-2B21-479E986E317F}"/>
              </a:ext>
            </a:extLst>
          </p:cNvPr>
          <p:cNvSpPr txBox="1"/>
          <p:nvPr/>
        </p:nvSpPr>
        <p:spPr>
          <a:xfrm>
            <a:off x="4700202" y="4646826"/>
            <a:ext cx="610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https://keepass.info/</a:t>
            </a:r>
          </a:p>
        </p:txBody>
      </p:sp>
    </p:spTree>
    <p:extLst>
      <p:ext uri="{BB962C8B-B14F-4D97-AF65-F5344CB8AC3E}">
        <p14:creationId xmlns:p14="http://schemas.microsoft.com/office/powerpoint/2010/main" val="11306698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3E617-01DB-9D84-FE81-363B29D66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AF23-53FC-F717-C753-9E4C4691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1password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FAE6A1-39C4-0001-2A52-5846DB5D7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40659" y="1786535"/>
            <a:ext cx="4732829" cy="2836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E9E55D-68A9-F249-B90E-6E208C87E717}"/>
              </a:ext>
            </a:extLst>
          </p:cNvPr>
          <p:cNvSpPr txBox="1"/>
          <p:nvPr/>
        </p:nvSpPr>
        <p:spPr>
          <a:xfrm>
            <a:off x="4669310" y="4807463"/>
            <a:ext cx="610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https://1password.com/pt/pricing </a:t>
            </a:r>
          </a:p>
        </p:txBody>
      </p:sp>
    </p:spTree>
    <p:extLst>
      <p:ext uri="{BB962C8B-B14F-4D97-AF65-F5344CB8AC3E}">
        <p14:creationId xmlns:p14="http://schemas.microsoft.com/office/powerpoint/2010/main" val="3030089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2DD6B-970E-70AB-98C6-416A696EA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E4D10-C33E-9C20-6A2B-FAB455A68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48713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bitwarden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0EC4F-1AC7-2758-E632-136A87E30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29658" y="1786535"/>
            <a:ext cx="3754831" cy="2836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3FBBA2-3610-8FB0-5BAF-F4B560D67689}"/>
              </a:ext>
            </a:extLst>
          </p:cNvPr>
          <p:cNvSpPr txBox="1"/>
          <p:nvPr/>
        </p:nvSpPr>
        <p:spPr>
          <a:xfrm>
            <a:off x="4669310" y="4807463"/>
            <a:ext cx="6101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dirty="0"/>
              <a:t>https://bitwarden.com/pricing/business/ </a:t>
            </a:r>
          </a:p>
        </p:txBody>
      </p:sp>
    </p:spTree>
    <p:extLst>
      <p:ext uri="{BB962C8B-B14F-4D97-AF65-F5344CB8AC3E}">
        <p14:creationId xmlns:p14="http://schemas.microsoft.com/office/powerpoint/2010/main" val="3185659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5F3C-73E5-2B6F-04AB-61DDED053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2A9D-25DF-EF48-5C4B-89C6DAFEE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VPNs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C48B6-18F9-1D7F-0236-93A4B47E2829}"/>
              </a:ext>
            </a:extLst>
          </p:cNvPr>
          <p:cNvSpPr txBox="1"/>
          <p:nvPr/>
        </p:nvSpPr>
        <p:spPr>
          <a:xfrm>
            <a:off x="2100649" y="2199503"/>
            <a:ext cx="78465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https://protonvpn.com/pricing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https://mullvad.net/pt/pricing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Among</a:t>
            </a:r>
            <a:r>
              <a:rPr lang="pt-PT" dirty="0"/>
              <a:t> </a:t>
            </a:r>
            <a:r>
              <a:rPr lang="pt-PT" dirty="0" err="1"/>
              <a:t>others</a:t>
            </a:r>
            <a:r>
              <a:rPr lang="pt-PT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22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protonvpn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C3BC0-DCC9-EB8A-7934-D45B96819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665" y="2040597"/>
            <a:ext cx="7886131" cy="2776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FD1B1D-802B-EDDE-3F1C-605D9EE87403}"/>
              </a:ext>
            </a:extLst>
          </p:cNvPr>
          <p:cNvSpPr txBox="1"/>
          <p:nvPr/>
        </p:nvSpPr>
        <p:spPr>
          <a:xfrm>
            <a:off x="4758849" y="5115244"/>
            <a:ext cx="6103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https://protonvpn.com/pricing </a:t>
            </a:r>
          </a:p>
        </p:txBody>
      </p:sp>
    </p:spTree>
    <p:extLst>
      <p:ext uri="{BB962C8B-B14F-4D97-AF65-F5344CB8AC3E}">
        <p14:creationId xmlns:p14="http://schemas.microsoft.com/office/powerpoint/2010/main" val="6695535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F982-D96E-16A0-23D5-2077BA6D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1695D-70B8-7E9F-CF77-6962D62B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 err="1">
                <a:latin typeface="Rockwell" panose="02060603020205020403" pitchFamily="18" charset="0"/>
              </a:rPr>
              <a:t>mullvad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31178-BF81-22FD-E49B-8AD23C054C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649205" y="2040597"/>
            <a:ext cx="3883050" cy="2776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B85FB3-20AA-51DA-818A-9FF496EEB0DB}"/>
              </a:ext>
            </a:extLst>
          </p:cNvPr>
          <p:cNvSpPr txBox="1"/>
          <p:nvPr/>
        </p:nvSpPr>
        <p:spPr>
          <a:xfrm>
            <a:off x="4758849" y="5115244"/>
            <a:ext cx="6103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https://mullvad.net/pt/pricing </a:t>
            </a:r>
          </a:p>
        </p:txBody>
      </p:sp>
    </p:spTree>
    <p:extLst>
      <p:ext uri="{BB962C8B-B14F-4D97-AF65-F5344CB8AC3E}">
        <p14:creationId xmlns:p14="http://schemas.microsoft.com/office/powerpoint/2010/main" val="2948573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Secure channels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A8801-0C8E-D157-CCB5-AB48A2628251}"/>
              </a:ext>
            </a:extLst>
          </p:cNvPr>
          <p:cNvSpPr txBox="1"/>
          <p:nvPr/>
        </p:nvSpPr>
        <p:spPr>
          <a:xfrm>
            <a:off x="2922373" y="2193324"/>
            <a:ext cx="65120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Signal</a:t>
            </a:r>
            <a:r>
              <a:rPr lang="pt-PT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Telemóveis e cartões descartáveis.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 err="1"/>
              <a:t>Protonmail</a:t>
            </a:r>
            <a:r>
              <a:rPr lang="pt-PT" dirty="0"/>
              <a:t>.</a:t>
            </a:r>
          </a:p>
          <a:p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Utilização de PGP.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7860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4008-B0DA-5B37-8BB5-CCA6625C5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DC4E-EEEE-E000-051F-50134D50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Exposed information and takedowns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F14F8-DB60-0F3F-570E-281F564EAC8D}"/>
              </a:ext>
            </a:extLst>
          </p:cNvPr>
          <p:cNvSpPr txBox="1"/>
          <p:nvPr/>
        </p:nvSpPr>
        <p:spPr>
          <a:xfrm>
            <a:off x="3169508" y="2075935"/>
            <a:ext cx="549257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Submeter pedido de remoção da informação à entidade em questão justificando abrangência do RGPD.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Depois remover a informação via formulário da google.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https://search.google.com/search-console/remove-outdated-content </a:t>
            </a:r>
          </a:p>
        </p:txBody>
      </p:sp>
    </p:spTree>
    <p:extLst>
      <p:ext uri="{BB962C8B-B14F-4D97-AF65-F5344CB8AC3E}">
        <p14:creationId xmlns:p14="http://schemas.microsoft.com/office/powerpoint/2010/main" val="932111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F9096-58DC-1123-8F72-6F07FB22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6CAA-6290-3D40-BAEE-6A5729C5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Exposed information and takedowns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F866D6-3D59-0D85-E5A6-7D63D031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2846" y="2052949"/>
            <a:ext cx="6091132" cy="26302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88D9E8-6A68-67F7-A702-CBE7D5A5D93D}"/>
              </a:ext>
            </a:extLst>
          </p:cNvPr>
          <p:cNvSpPr txBox="1"/>
          <p:nvPr/>
        </p:nvSpPr>
        <p:spPr>
          <a:xfrm>
            <a:off x="3958911" y="5119986"/>
            <a:ext cx="610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https://search.google.com/search-console/remove-outdated-content</a:t>
            </a:r>
          </a:p>
        </p:txBody>
      </p:sp>
    </p:spTree>
    <p:extLst>
      <p:ext uri="{BB962C8B-B14F-4D97-AF65-F5344CB8AC3E}">
        <p14:creationId xmlns:p14="http://schemas.microsoft.com/office/powerpoint/2010/main" val="1452048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E6859-EB27-BDFC-5187-E17CA93F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9A21-C2FE-E1AE-C061-D74928E9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Exposed information and takedowns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70C937-C6CB-287D-8E2C-52B0D1DCA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42846" y="2193885"/>
            <a:ext cx="6091132" cy="23483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B570F3-B0E1-AC04-6AD2-94514AB8E5A4}"/>
              </a:ext>
            </a:extLst>
          </p:cNvPr>
          <p:cNvSpPr txBox="1"/>
          <p:nvPr/>
        </p:nvSpPr>
        <p:spPr>
          <a:xfrm>
            <a:off x="3958911" y="5119986"/>
            <a:ext cx="610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https://search.google.com/search-console/remove-outdated-content</a:t>
            </a:r>
          </a:p>
        </p:txBody>
      </p:sp>
    </p:spTree>
    <p:extLst>
      <p:ext uri="{BB962C8B-B14F-4D97-AF65-F5344CB8AC3E}">
        <p14:creationId xmlns:p14="http://schemas.microsoft.com/office/powerpoint/2010/main" val="3021815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F7D6-B1A6-A3E5-01EF-AE09ACF4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C1870-9266-D326-3FD8-2377B21AA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Doxing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BDECE8-DBC4-2287-FE8B-85160AC1AD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152800" y="2006457"/>
            <a:ext cx="6251708" cy="14225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9A345E-D642-7D5D-27B2-91A7ACBCDBE3}"/>
              </a:ext>
            </a:extLst>
          </p:cNvPr>
          <p:cNvSpPr txBox="1"/>
          <p:nvPr/>
        </p:nvSpPr>
        <p:spPr>
          <a:xfrm>
            <a:off x="3940376" y="4207496"/>
            <a:ext cx="6103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https://www.avast.com/pt-br/c-what-is-doxxing</a:t>
            </a:r>
          </a:p>
        </p:txBody>
      </p:sp>
    </p:spTree>
    <p:extLst>
      <p:ext uri="{BB962C8B-B14F-4D97-AF65-F5344CB8AC3E}">
        <p14:creationId xmlns:p14="http://schemas.microsoft.com/office/powerpoint/2010/main" val="15504874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588B-3D72-4AA7-AA6C-9C3E6790D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DC9E-EC2F-E53C-13D4-18F354F3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Doxing e PII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CC56C8-FD72-4A27-27CB-4367BFD86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5398" y="1659952"/>
            <a:ext cx="3906569" cy="39015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23F737-B0C4-BC08-0004-C43C1C83BBEC}"/>
              </a:ext>
            </a:extLst>
          </p:cNvPr>
          <p:cNvSpPr txBox="1"/>
          <p:nvPr/>
        </p:nvSpPr>
        <p:spPr>
          <a:xfrm>
            <a:off x="4039230" y="5824321"/>
            <a:ext cx="610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https://support.google.com/websearch/answer/9673730?hl=en</a:t>
            </a:r>
          </a:p>
        </p:txBody>
      </p:sp>
    </p:spTree>
    <p:extLst>
      <p:ext uri="{BB962C8B-B14F-4D97-AF65-F5344CB8AC3E}">
        <p14:creationId xmlns:p14="http://schemas.microsoft.com/office/powerpoint/2010/main" val="10714066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1BED-4806-A460-E447-EADC23194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C9074-409D-9E75-2ADC-6B062A2B9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Doxing e PII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C186B-A523-EB87-6298-B8B0E7771C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39230" y="1934998"/>
            <a:ext cx="5043953" cy="3242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21EB1F-DC91-7D97-1706-1C48A76485F4}"/>
              </a:ext>
            </a:extLst>
          </p:cNvPr>
          <p:cNvSpPr txBox="1"/>
          <p:nvPr/>
        </p:nvSpPr>
        <p:spPr>
          <a:xfrm>
            <a:off x="4039230" y="5614338"/>
            <a:ext cx="6103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https://support.google.com/websearch/contact/content_removal_form?sjid=5829210988292635720-EU</a:t>
            </a:r>
          </a:p>
        </p:txBody>
      </p:sp>
    </p:spTree>
    <p:extLst>
      <p:ext uri="{BB962C8B-B14F-4D97-AF65-F5344CB8AC3E}">
        <p14:creationId xmlns:p14="http://schemas.microsoft.com/office/powerpoint/2010/main" val="3917312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Rockwell" panose="02060603020205020403" pitchFamily="18" charset="0"/>
              </a:rPr>
              <a:t>Social Media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84035-6C23-D45F-29BA-35334A8BA799}"/>
              </a:ext>
            </a:extLst>
          </p:cNvPr>
          <p:cNvSpPr txBox="1"/>
          <p:nvPr/>
        </p:nvSpPr>
        <p:spPr>
          <a:xfrm>
            <a:off x="2798805" y="1791730"/>
            <a:ext cx="5727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Social Media "</a:t>
            </a:r>
            <a:r>
              <a:rPr lang="pt-PT" dirty="0" err="1"/>
              <a:t>Closure</a:t>
            </a:r>
            <a:r>
              <a:rPr lang="pt-PT" dirty="0"/>
              <a:t>" - Validar informação tua ou de terceiros em redes sociais e fechar tudo o que seja sensível.</a:t>
            </a:r>
          </a:p>
          <a:p>
            <a:endParaRPr lang="pt-PT" dirty="0"/>
          </a:p>
          <a:p>
            <a:r>
              <a:rPr lang="pt-PT" dirty="0"/>
              <a:t>Exemplo: Uma foto nossa num terceiro que pode expor a nossa localização.</a:t>
            </a:r>
          </a:p>
        </p:txBody>
      </p:sp>
    </p:spTree>
    <p:extLst>
      <p:ext uri="{BB962C8B-B14F-4D97-AF65-F5344CB8AC3E}">
        <p14:creationId xmlns:p14="http://schemas.microsoft.com/office/powerpoint/2010/main" val="4122661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Faraday </a:t>
            </a:r>
            <a:r>
              <a:rPr lang="pt-PT" sz="4400" dirty="0" err="1">
                <a:latin typeface="Rockwell" panose="02060603020205020403" pitchFamily="18" charset="0"/>
              </a:rPr>
              <a:t>bags</a:t>
            </a:r>
            <a:endParaRPr lang="en-US" sz="4400" dirty="0">
              <a:latin typeface="Rockwell" panose="020606030202050204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2ACD2-491A-6C0A-5BBC-9880F8F1E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40" y="1583140"/>
            <a:ext cx="6649973" cy="3804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F34E99-2183-EBE7-3F40-D1AEE259EE77}"/>
              </a:ext>
            </a:extLst>
          </p:cNvPr>
          <p:cNvSpPr txBox="1"/>
          <p:nvPr/>
        </p:nvSpPr>
        <p:spPr>
          <a:xfrm>
            <a:off x="4252016" y="5472931"/>
            <a:ext cx="478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https://www.ebay.co.uk/itm/185921071582</a:t>
            </a:r>
          </a:p>
        </p:txBody>
      </p:sp>
    </p:spTree>
    <p:extLst>
      <p:ext uri="{BB962C8B-B14F-4D97-AF65-F5344CB8AC3E}">
        <p14:creationId xmlns:p14="http://schemas.microsoft.com/office/powerpoint/2010/main" val="2288894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RFID </a:t>
            </a:r>
            <a:r>
              <a:rPr lang="pt-PT" sz="4400" dirty="0" err="1">
                <a:latin typeface="Rockwell" panose="02060603020205020403" pitchFamily="18" charset="0"/>
              </a:rPr>
              <a:t>blockers</a:t>
            </a:r>
            <a:endParaRPr lang="en-US" sz="4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595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pt-PT" sz="4400" dirty="0" err="1">
                <a:latin typeface="Rockwell" panose="02060603020205020403" pitchFamily="18" charset="0"/>
              </a:rPr>
              <a:t>Banking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92F13-2995-5B78-7F33-7AAA2CDE1D84}"/>
              </a:ext>
            </a:extLst>
          </p:cNvPr>
          <p:cNvSpPr txBox="1"/>
          <p:nvPr/>
        </p:nvSpPr>
        <p:spPr>
          <a:xfrm>
            <a:off x="1909120" y="1621500"/>
            <a:ext cx="78094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Validar os terminais de pagamento bem como os </a:t>
            </a:r>
            <a:r>
              <a:rPr lang="pt-PT" dirty="0" err="1"/>
              <a:t>ATMs</a:t>
            </a:r>
            <a:r>
              <a:rPr lang="pt-PT" dirty="0"/>
              <a:t> antes de usar o cartão.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Utilizar cartões bancários de uma só compra com valor fixo.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Não utilizar redes desconhecidas para online </a:t>
            </a:r>
            <a:r>
              <a:rPr lang="pt-PT" dirty="0" err="1"/>
              <a:t>banking</a:t>
            </a:r>
            <a:r>
              <a:rPr lang="pt-PT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7619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3E8A-FC76-FB1E-B9C5-A7A64EFF9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67F03-BB48-26C0-925F-ADDADE8C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140" y="2308422"/>
            <a:ext cx="9957719" cy="879414"/>
          </a:xfrm>
        </p:spPr>
        <p:txBody>
          <a:bodyPr>
            <a:normAutofit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Pausa</a:t>
            </a:r>
            <a:endParaRPr lang="en-US" sz="4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1038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8A1D-083F-8FB0-32A2-6D8CB369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AAFE-BB4D-C61F-56BC-0A2FE08BF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18518"/>
            <a:ext cx="9957719" cy="879414"/>
          </a:xfrm>
        </p:spPr>
        <p:txBody>
          <a:bodyPr>
            <a:normAutofit fontScale="90000"/>
          </a:bodyPr>
          <a:lstStyle/>
          <a:p>
            <a:pPr algn="ctr"/>
            <a:r>
              <a:rPr lang="pt-PT" sz="4400" dirty="0">
                <a:latin typeface="Rockwell" panose="02060603020205020403" pitchFamily="18" charset="0"/>
              </a:rPr>
              <a:t>Cibersegurança organizacional: politica, cultura  e formação</a:t>
            </a:r>
            <a:endParaRPr lang="en-US" sz="4400" dirty="0">
              <a:latin typeface="Rockwell" panose="020606030202050204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40E4C-40D8-A422-E105-58339DFFC565}"/>
              </a:ext>
            </a:extLst>
          </p:cNvPr>
          <p:cNvSpPr txBox="1"/>
          <p:nvPr/>
        </p:nvSpPr>
        <p:spPr>
          <a:xfrm>
            <a:off x="1793373" y="2119211"/>
            <a:ext cx="780947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Formações gratuitas do Centro Nacional de cibersegurança (cidadão ciberseguro) entre outros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Politicas de governance, risk and Compliance atualizadas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Realização de testes de intrusão e emulação de ameaças recorrentes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Realização de backups e storage em cold e hot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Procedimentos de resposta a incidentes e anáise forense se caso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dirty="0"/>
              <a:t>Cultura não descriminatória a quem comete erros porque errar é humano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613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BFF1F-BFA9-89EC-0F31-54BC95B38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D164F765-CD8A-1227-C71E-64E0B7E34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62" y="1075654"/>
            <a:ext cx="6058540" cy="4567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03263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STSLIDEVIEWED" val="322,40,Slide67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409</TotalTime>
  <Words>721</Words>
  <Application>Microsoft Office PowerPoint</Application>
  <PresentationFormat>Widescreen</PresentationFormat>
  <Paragraphs>116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Rockwell</vt:lpstr>
      <vt:lpstr>Tw Cen MT</vt:lpstr>
      <vt:lpstr>Circuit</vt:lpstr>
      <vt:lpstr>Workshop – Cibersegurança e a sua criticidade em empresas e cidadãos</vt:lpstr>
      <vt:lpstr>Recepção e contextualização</vt:lpstr>
      <vt:lpstr>INFOSEC (Information Security)</vt:lpstr>
      <vt:lpstr>CIA TRIANGLE</vt:lpstr>
      <vt:lpstr>Cibersegurança como ativo estratégico</vt:lpstr>
      <vt:lpstr>Top 5 ciberameaças mais relevantes </vt:lpstr>
      <vt:lpstr>Phishing e smishing</vt:lpstr>
      <vt:lpstr>Phishing e smishing</vt:lpstr>
      <vt:lpstr>ransomware</vt:lpstr>
      <vt:lpstr>ransomware</vt:lpstr>
      <vt:lpstr>Exploração de vulnerabilidades</vt:lpstr>
      <vt:lpstr>Exploração de vulnerabilidades</vt:lpstr>
      <vt:lpstr>Negação de serviços distribuida (ddos)</vt:lpstr>
      <vt:lpstr>Negação de serviços distribuida (ddos)</vt:lpstr>
      <vt:lpstr>Ameaça crescente 2025 – Info stealers</vt:lpstr>
      <vt:lpstr>Ameaça crescente 2025 – Info stealers</vt:lpstr>
      <vt:lpstr>?Am i safe?</vt:lpstr>
      <vt:lpstr>?Am i safe?</vt:lpstr>
      <vt:lpstr>?Am i safe?</vt:lpstr>
      <vt:lpstr>Medidas básicas de proteção e boas práticas de segurança digital</vt:lpstr>
      <vt:lpstr>Password Managers</vt:lpstr>
      <vt:lpstr>Keepass</vt:lpstr>
      <vt:lpstr>1password</vt:lpstr>
      <vt:lpstr>bitwarden</vt:lpstr>
      <vt:lpstr>VPNs</vt:lpstr>
      <vt:lpstr>protonvpn</vt:lpstr>
      <vt:lpstr>mullvad</vt:lpstr>
      <vt:lpstr>Secure channels</vt:lpstr>
      <vt:lpstr>Exposed information and takedowns</vt:lpstr>
      <vt:lpstr>Exposed information and takedowns</vt:lpstr>
      <vt:lpstr>Exposed information and takedowns</vt:lpstr>
      <vt:lpstr>Doxing</vt:lpstr>
      <vt:lpstr>Doxing e PII</vt:lpstr>
      <vt:lpstr>Doxing e PII</vt:lpstr>
      <vt:lpstr>Social Media</vt:lpstr>
      <vt:lpstr>Faraday bags</vt:lpstr>
      <vt:lpstr>RFID blockers</vt:lpstr>
      <vt:lpstr>Banking</vt:lpstr>
      <vt:lpstr>Pausa</vt:lpstr>
      <vt:lpstr>Cibersegurança organizacional: politica, cultura  e formação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Santareno</cp:lastModifiedBy>
  <cp:revision>7</cp:revision>
  <dcterms:created xsi:type="dcterms:W3CDTF">2023-09-16T22:51:27Z</dcterms:created>
  <dcterms:modified xsi:type="dcterms:W3CDTF">2025-11-19T15:38:36Z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